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a five-day, hands-on course. Each day you build the same pattern two ways: visually on a canvas, then in ~30 lines of Python. Goal: durable principles, not one vendor's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visual track is fast intuition; the coding track is depth and production-readiness. Langflow even exports flows to Python, bridging the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reach for a full autonomous agent by default. Agents trade predictability for flexibility. Start simple and add autonomy only when the task truly needs model-driven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are composable: routing feeds a chain; an orchestrator wraps evaluator-optimizer workers; parallelization sits inside any of them. You'll meet each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Planning: decompose and sequence. Memory: what you choose to re-enter the context window. Tools: acting on the world. Loop: observe results and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this. Evals and error analysis are the differentiator. Treat evaluation as the main event, not an afterthought.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day: a concept block, a visual lab with numbered steps, a coding exercise with a starter snippet, and an applied use case. About 2-3 hours per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are free to self-host. Langflow is the best learning fit; n8n shines for the capstone's real-world actions; Flowise has native approval gates for regulated 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of 'agentic' fits in about fifteen lines. Everything else in the course elaborates on this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Reflection is Anthropic's evaluator-optimizer pattern. The rubric is the real work. Memory is entirely context engineering — models are stateless.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decides, your code acts — that boundary is where safety and audit live. Precise tool descriptions are the top driver of correct tool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Composition works because a worker agent is exposed to the orchestrator as a tool. Routing is just tool selection one level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capstone composes every pattern: plan, search, fetch, synthesize, outline, edit (reflection), report — looping back to search when gaps remain.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compress the week. If a learner remembers only these, they'll be ahead of most teams building agents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tracks converge on production. Grasp shape on the canvas, own the mechanism in code, then harden with evals, tracing, and a code-first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pointing to the two deliverables: the curriculum document and the hands-on labs. The best next step is to open day1 and implement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6400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A4A70"/>
          </a:solidFill>
          <a:ln w="12700">
            <a:solidFill>
              <a:srgbClr val="3C5D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5560" y="6400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A4A70"/>
          </a:solidFill>
          <a:ln w="12700">
            <a:solidFill>
              <a:srgbClr val="3C5D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4240" y="6400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A4A70"/>
          </a:solidFill>
          <a:ln w="12700">
            <a:solidFill>
              <a:srgbClr val="3C5D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488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58368" y="3246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Practitioner’s Week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76656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E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 agents in five days — visually and in code.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76656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patterns</a:t>
            </a:r>
            <a:pPr indent="0" marL="0">
              <a:buNone/>
            </a:pPr>
            <a:r>
              <a:rPr lang="en-US" sz="15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two tracks per day   ·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+ code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09728" cy="109728"/>
          </a:xfrm>
          <a:prstGeom prst="ellipse">
            <a:avLst/>
          </a:prstGeom>
          <a:solidFill>
            <a:srgbClr val="B07A2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tracks, reinforcing each other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You’ll learn the building blocks of real agents:
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loop, reflection, memory, tool use, planning, multi-agent orchestration, and the evaluation discipline that decides whether an agent ever ships.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26480" y="150876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0" y="1783080"/>
            <a:ext cx="457200" cy="457200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040880" y="173736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track — Langflow
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pattern on a drag-and-drop canvas. See the whole agent at once; a working flow in minutes.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126480" y="342900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3703320"/>
            <a:ext cx="457200" cy="457200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40880" y="365760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track — Python
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same pattern in ~30 lines. Own the mechanism; take it to production. Exercises + solutions included.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126480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either or both — the canvas builds intuition, the code makes it precise.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09728" cy="109728"/>
          </a:xfrm>
          <a:prstGeom prst="ellipse">
            <a:avLst/>
          </a:prstGeom>
          <a:solidFill>
            <a:srgbClr val="B07A2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DECISION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Workflows vs. agents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F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and tools orchestrated through predefined code paths.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and consistent. Best for well-defined tasks.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7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28600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directing its own actions in a loop, based on feedback.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and model-driven. Best when steps can’t be predicted.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66344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least autonomy that solves the task. For many jobs a simple workflow — or even one well-crafted LLM call with retrieval — beats a full agent.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09728" cy="109728"/>
          </a:xfrm>
          <a:prstGeom prst="ellipse">
            <a:avLst/>
          </a:prstGeom>
          <a:solidFill>
            <a:srgbClr val="B07A2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designs are combinations of five patterns</a:t>
            </a:r>
            <a:endParaRPr lang="en-US" sz="2800" dirty="0"/>
          </a:p>
        </p:txBody>
      </p:sp>
      <p:pic>
        <p:nvPicPr>
          <p:cNvPr id="5" name="Image 0" descr="/home/claude/fig_patter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783080"/>
            <a:ext cx="10058400" cy="34345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</a:t>
            </a:r>
            <a:pPr algn="ctr"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· </a:t>
            </a:r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</a:t>
            </a:r>
            <a:pPr algn="ctr"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handlers · </a:t>
            </a:r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 </a:t>
            </a:r>
            <a:pPr algn="ctr"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subtasks · </a:t>
            </a:r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</a:t>
            </a:r>
            <a:pPr algn="ctr"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· </a:t>
            </a:r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Evaluate–optimize </a:t>
            </a:r>
            <a:pPr algn="ctr"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loop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09728" cy="109728"/>
          </a:xfrm>
          <a:prstGeom prst="ellipse">
            <a:avLst/>
          </a:prstGeom>
          <a:solidFill>
            <a:srgbClr val="B07A2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DO NEED AN AGENT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always the same four parts around a model</a:t>
            </a:r>
            <a:endParaRPr lang="en-US" sz="2800" dirty="0"/>
          </a:p>
        </p:txBody>
      </p:sp>
      <p:pic>
        <p:nvPicPr>
          <p:cNvPr id="5" name="Image 0" descr="/home/claude/fig_anatom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737360"/>
            <a:ext cx="8229600" cy="31889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day of this course adds one part: planning, memory, tools, and the loop that ties them together.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07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A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that matters most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2A1E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biggest predictor of a team’s success isn’t the model or the framework.</a:t>
            </a:r>
            <a:endParaRPr lang="en-US" sz="3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2A1E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whether they run a </a:t>
            </a:r>
            <a:endParaRPr lang="en-US" sz="3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disciplined evaluation and error-analysis process.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31520" y="448056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A1E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that only tweak prompts hit a ceiling they can’t see. Teams that measure, trace, and fix the weakest component keep improving. Day 5 is devoted to it — and the mindset runs through every day.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09728" cy="109728"/>
          </a:xfrm>
          <a:prstGeom prst="ellipse">
            <a:avLst/>
          </a:prstGeom>
          <a:solidFill>
            <a:srgbClr val="B07A2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week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25880" y="1600200"/>
            <a:ext cx="10287000" cy="786384"/>
          </a:xfrm>
          <a:prstGeom prst="roundRect">
            <a:avLst>
              <a:gd name="adj" fmla="val 10465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165506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loop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655064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vs. agents; the ~15 lines that make one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64040" y="1655064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agent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243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325880" y="2532888"/>
            <a:ext cx="1028700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54480" y="25877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 &amp; memory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258775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Generate→critique→revise; context engineering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464040" y="258775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copy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570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325880" y="3465576"/>
            <a:ext cx="10287000" cy="786384"/>
          </a:xfrm>
          <a:prstGeom prst="roundRect">
            <a:avLst>
              <a:gd name="adj" fmla="val 10465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554480" y="35204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use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35204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structured outputs; function calling; MCP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64040" y="35204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489704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4897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325880" y="4398264"/>
            <a:ext cx="1028700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554480" y="445312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&amp; multi-agent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54880" y="445312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Plan-as-JSON; orchestrator-workers; routing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64040" y="445312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team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422392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422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1325880" y="5330952"/>
            <a:ext cx="10287000" cy="786384"/>
          </a:xfrm>
          <a:prstGeom prst="roundRect">
            <a:avLst>
              <a:gd name="adj" fmla="val 10465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554480" y="5385816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capstone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54880" y="5385816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+ judge evals; traces; guardrails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464040" y="5385816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Deep-research agent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09728" cy="109728"/>
          </a:xfrm>
          <a:prstGeom prst="ellipse">
            <a:avLst/>
          </a:prstGeom>
          <a:solidFill>
            <a:srgbClr val="B07A2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your canvas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EAF1F6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28800"/>
            <a:ext cx="365760" cy="365760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PICK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Langflow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community · native RAG &amp; MCP · live testing · exports to Python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37560" y="160020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1828800"/>
            <a:ext cx="365760" cy="365760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Flowise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66160" y="28803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RAG · the only native human-in-the-loop approval node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26480" y="160020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828800"/>
            <a:ext cx="365760" cy="365760"/>
          </a:xfrm>
          <a:prstGeom prst="ellipse">
            <a:avLst/>
          </a:prstGeom>
          <a:solidFill>
            <a:srgbClr val="B07A2E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ACTIONS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55080" y="28803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+ 400 integrations — great for the capstone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915400" y="160020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0" y="1828800"/>
            <a:ext cx="365760" cy="365760"/>
          </a:xfrm>
          <a:prstGeom prst="ellipse">
            <a:avLst/>
          </a:prstGeom>
          <a:solidFill>
            <a:srgbClr val="5A6472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Dify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44000" y="28803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+ RAG + observability bundled together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F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16636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Langflow leads for learning: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and tool use are native nodes, you test in a live chat pane, and every flow exports to Python — the bridge to the coding track.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09728" cy="109728"/>
          </a:xfrm>
          <a:prstGeom prst="ellipse">
            <a:avLst/>
          </a:prstGeom>
          <a:solidFill>
            <a:srgbClr val="B07A2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FOUNDATIONS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loop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vs. agent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predefined path vs. model-directed loop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call model → run requested tool → feed back → repeat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control flow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it’s ordinary code you control, not magic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spectrum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match autonomy to the stakes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0F2038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82880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turn in range(max_turns):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call_model(messages,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system=SYSTEM, tools=TOOLS)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resp.stop_reason != "tool_use":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text_of(resp)   # done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run each requested tool,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append results, and loop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6480" y="5806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day1_agent_loop/exercise.py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09728" cy="109728"/>
          </a:xfrm>
          <a:prstGeom prst="ellipse">
            <a:avLst/>
          </a:prstGeom>
          <a:solidFill>
            <a:srgbClr val="B07A2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REFLECTION &amp; MEMORY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your own work; remember what matters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Evaluator-optimizer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draft → critique → revise, looped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Rubrics beat vibes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specific yes/no criteria, not “rate 1–10”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= context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buffer, summary, or retrieved facts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context window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curate what enters attention</a:t>
            </a:r>
            <a:endParaRPr lang="en-US" sz="1500" dirty="0"/>
          </a:p>
        </p:txBody>
      </p:sp>
      <p:pic>
        <p:nvPicPr>
          <p:cNvPr id="6" name="Image 0" descr="/home/claude/fig_ref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194560"/>
            <a:ext cx="5852160" cy="23100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0" y="51206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reflection_exercise.py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09728" cy="109728"/>
          </a:xfrm>
          <a:prstGeom prst="ellipse">
            <a:avLst/>
          </a:prstGeom>
          <a:solidFill>
            <a:srgbClr val="B07A2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TOOL USE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the agent to the world</a:t>
            </a:r>
            <a:endParaRPr lang="en-US" sz="2800" dirty="0"/>
          </a:p>
        </p:txBody>
      </p:sp>
      <p:pic>
        <p:nvPicPr>
          <p:cNvPr id="5" name="Image 0" descr="/home/claude/fig_tool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03120"/>
            <a:ext cx="6126480" cy="24040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0" y="173736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structured outputs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model emits JSON; your code runs it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quality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it’s the model’s whole manual for the tool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extraction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force a tool call for clean, typed data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standard for connecting tools &amp; data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507492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day3_tool_use/exercise.py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09728" cy="109728"/>
          </a:xfrm>
          <a:prstGeom prst="ellipse">
            <a:avLst/>
          </a:prstGeom>
          <a:solidFill>
            <a:srgbClr val="B07A2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PLANNING &amp; MULTI-AGENT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agent to a coordinated team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emit a JSON plan, then execute &amp; adapt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Orchestrator-workers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lead delegates to specialists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parallelization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specialize handlers; run subtasks at once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focused agents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narrow beats monolithic</a:t>
            </a:r>
            <a:endParaRPr lang="en-US" sz="1500" dirty="0"/>
          </a:p>
        </p:txBody>
      </p:sp>
      <p:pic>
        <p:nvPicPr>
          <p:cNvPr id="6" name="Image 0" descr="/home/claude/fig_multi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00200"/>
            <a:ext cx="6035040" cy="28062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0" y="46177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orchestrator_exercise.py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09728" cy="109728"/>
          </a:xfrm>
          <a:prstGeom prst="ellipse">
            <a:avLst/>
          </a:prstGeom>
          <a:solidFill>
            <a:srgbClr val="B07A2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EVALUATION &amp; CAPSTONE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Measure, trace, fix — then build the capstone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+ judge evals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code checks where you can; a rubric-judge where you can’t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via traces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find the weakest component and fix that one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humans-in-the-loop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deterministic checks; approval as a first-class step</a:t>
            </a:r>
            <a:endParaRPr lang="en-US" sz="1500" dirty="0"/>
          </a:p>
        </p:txBody>
      </p:sp>
      <p:pic>
        <p:nvPicPr>
          <p:cNvPr id="6" name="Image 0" descr="/home/claude/fig_capst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3611880"/>
            <a:ext cx="9144000" cy="2526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23620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eval_exercise.py  ·  research_agent_solution.py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09728" cy="109728"/>
          </a:xfrm>
          <a:prstGeom prst="ellipse">
            <a:avLst/>
          </a:prstGeom>
          <a:solidFill>
            <a:srgbClr val="B07A2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ideas to leave with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01952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autonomy wins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25146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 workflow until a loop is truly needed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15968" y="16459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901952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84648" y="19019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is the game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25146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call, run tools, feed back, repeat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83296" y="16459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9328" y="1901952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8339328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51976" y="19019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Rubrics beat vibes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39328" y="25146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criteria drive reflection and evals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40050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= structured outputs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4672" y="46177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decides; your code validates &amp; acts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315968" y="37490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4005072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84648" y="40050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 small agents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0" y="46177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routes; reflection polishes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083296" y="37490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39328" y="4005072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8339328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951976" y="40050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Evals are the real skill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39328" y="46177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measure, trace, fix the weakest part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09728" cy="109728"/>
          </a:xfrm>
          <a:prstGeom prst="ellipse">
            <a:avLst/>
          </a:prstGeom>
          <a:solidFill>
            <a:srgbClr val="B07A2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canvas to code to production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3108960"/>
          </a:xfrm>
          <a:prstGeom prst="roundRect">
            <a:avLst>
              <a:gd name="adj" fmla="val 2647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pattern visually to grasp its shape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F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Langflow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96512" y="3017520"/>
            <a:ext cx="310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434840" y="1828800"/>
            <a:ext cx="3566160" cy="3108960"/>
          </a:xfrm>
          <a:prstGeom prst="roundRect">
            <a:avLst>
              <a:gd name="adj" fmla="val 2647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103120"/>
            <a:ext cx="548640" cy="548640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0916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09160" y="3337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it in the Python labs to own the mechanism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4480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agentic-ai-labs/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982712" y="3017520"/>
            <a:ext cx="310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321040" y="1828800"/>
            <a:ext cx="3566160" cy="3108960"/>
          </a:xfrm>
          <a:prstGeom prst="roundRect">
            <a:avLst>
              <a:gd name="adj" fmla="val 2647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2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95360" y="2103120"/>
            <a:ext cx="548640" cy="548640"/>
          </a:xfrm>
          <a:prstGeom prst="ellipse">
            <a:avLst/>
          </a:prstGeom>
          <a:solidFill>
            <a:srgbClr val="B07A2E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59536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595360" y="3337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Python or a code-first framework; add evals &amp; tracing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95360" y="4480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· CrewAI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 graph is the mental model; the code makes it testable and auditable.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go build an agent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49808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days. Two tracks. Six ideas. Start with the loop.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49808" y="466344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B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learning
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“Building Effective Agents”  ·  HumanLayer, “12-Factor Agents”  ·  the shared agentic design patterns (reflection, tool use, planning, multi-agent)  ·  Langflow / n8n / Flowise.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Agentic AI course</dc:creator>
  <cp:lastModifiedBy>Agentic AI course</cp:lastModifiedBy>
  <cp:revision>1</cp:revision>
  <dcterms:created xsi:type="dcterms:W3CDTF">2026-07-16T17:49:09Z</dcterms:created>
  <dcterms:modified xsi:type="dcterms:W3CDTF">2026-07-16T17:49:09Z</dcterms:modified>
</cp:coreProperties>
</file>